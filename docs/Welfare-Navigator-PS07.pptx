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the rules are public but scattered and partly unreadable, and one fixable gap blocks a benefit with no explanation. Users: fisher and allied families, plantation families, Akshaya operators and field workers, and the department officers who keep the rules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time: sources to workbook to validated dataset.json, gated by the rule audit in CI. In the browser: the engine evaluates true, false or unknown and picks the next question; results and quotes render locally. Online and optional: voice, the reviewer API, and the assist API, which receives only scheme id, question type and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Sources, fields, transformations, limitations and privacy controls, as in the README. The limitations come from our own rule audit and reviewer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path. Then invite the judges to give us any household from their sheet and run it on /review against the same engine. Screenshots are from the current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is what the design enables; we have not measured outcomes with families yet. AI declaration matches the README. Later rounds are logged in FEEDBACK.md.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PROBLEM   ·   2  USERS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071055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 Navigator · PS-07 · Team SleepDeprived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exist. Families cannot reach them.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bilingual Malayalam–English screener that tells Kerala's fishing and plantation families which welfare schemes they may potentially be eligible for, why, what to bring, and where to go.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12064" cy="512064"/>
          </a:xfrm>
          <a:prstGeom prst="ellipse">
            <a:avLst/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294" y="2718694"/>
            <a:ext cx="286756" cy="2867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0160" y="258775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official sources, many unreadable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sit across PDFs, pages, Acts and orders, many in legacy-font Malayalam that cannot be searched.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3447288"/>
            <a:ext cx="512064" cy="512064"/>
          </a:xfrm>
          <a:prstGeom prst="ellipse">
            <a:avLst/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" y="355994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80160" y="34290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bodies, five sets of offices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welfare boards, Fisheries, Matsyafed and the Labour Commissionerate each own different benefits.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4288536"/>
            <a:ext cx="512064" cy="512064"/>
          </a:xfrm>
          <a:prstGeom prst="ellipse">
            <a:avLst/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" y="4401190"/>
            <a:ext cx="286756" cy="2867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427024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fixable gap blocks a benefit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 Welfare Fund contributions quietly rule a family out, and nobody tells them why.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6446520" y="2240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446520" y="2606040"/>
            <a:ext cx="457200" cy="457200"/>
          </a:xfrm>
          <a:prstGeom prst="ellipse">
            <a:avLst/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4" y="27066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04888" y="2587752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Fisher and allied fish-worker families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Mode, recorded Malayalam audio, big buttons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446520" y="3236976"/>
            <a:ext cx="457200" cy="457200"/>
          </a:xfrm>
          <a:prstGeom prst="ellipse">
            <a:avLst/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3337560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104888" y="3218688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plantation and estate families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livelihoods, so work is multi-select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6446520" y="3867912"/>
            <a:ext cx="457200" cy="457200"/>
          </a:xfrm>
          <a:prstGeom prst="ellipse">
            <a:avLst/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968496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104888" y="3849624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Akshaya operators and field workers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Assisted mode clears answers after 3 idle minutes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6446520" y="4498848"/>
            <a:ext cx="457200" cy="457200"/>
          </a:xfrm>
          <a:prstGeom prst="ellipse">
            <a:avLst/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4599432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104888" y="4480560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officers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maintained as workbook data, checked in CI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548640" y="5440680"/>
            <a:ext cx="20360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4000" dirty="0"/>
          </a:p>
        </p:txBody>
      </p:sp>
      <p:sp>
        <p:nvSpPr>
          <p:cNvPr id="30" name="Text 21"/>
          <p:cNvSpPr txBox="1"/>
          <p:nvPr/>
        </p:nvSpPr>
        <p:spPr>
          <a:xfrm>
            <a:off x="548640" y="6108192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schemes encoded</a:t>
            </a:r>
            <a:endParaRPr lang="en-US" sz="1150" dirty="0"/>
          </a:p>
        </p:txBody>
      </p:sp>
      <p:sp>
        <p:nvSpPr>
          <p:cNvPr id="31" name="Text 22"/>
          <p:cNvSpPr txBox="1"/>
          <p:nvPr/>
        </p:nvSpPr>
        <p:spPr>
          <a:xfrm>
            <a:off x="2767523" y="5440680"/>
            <a:ext cx="20360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4000" dirty="0"/>
          </a:p>
        </p:txBody>
      </p:sp>
      <p:sp>
        <p:nvSpPr>
          <p:cNvPr id="32" name="Text 23"/>
          <p:cNvSpPr txBox="1"/>
          <p:nvPr/>
        </p:nvSpPr>
        <p:spPr>
          <a:xfrm>
            <a:off x="2767523" y="6108192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conditions, each quoted</a:t>
            </a:r>
            <a:endParaRPr lang="en-US" sz="1150" dirty="0"/>
          </a:p>
        </p:txBody>
      </p:sp>
      <p:sp>
        <p:nvSpPr>
          <p:cNvPr id="33" name="Text 24"/>
          <p:cNvSpPr txBox="1"/>
          <p:nvPr/>
        </p:nvSpPr>
        <p:spPr>
          <a:xfrm>
            <a:off x="4986406" y="5440680"/>
            <a:ext cx="20360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4000" dirty="0"/>
          </a:p>
        </p:txBody>
      </p:sp>
      <p:sp>
        <p:nvSpPr>
          <p:cNvPr id="34" name="Text 25"/>
          <p:cNvSpPr txBox="1"/>
          <p:nvPr/>
        </p:nvSpPr>
        <p:spPr>
          <a:xfrm>
            <a:off x="4986406" y="6108192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sources</a:t>
            </a:r>
            <a:endParaRPr lang="en-US" sz="1150" dirty="0"/>
          </a:p>
        </p:txBody>
      </p:sp>
      <p:sp>
        <p:nvSpPr>
          <p:cNvPr id="35" name="Text 26"/>
          <p:cNvSpPr txBox="1"/>
          <p:nvPr/>
        </p:nvSpPr>
        <p:spPr>
          <a:xfrm>
            <a:off x="7205289" y="5440680"/>
            <a:ext cx="20360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4000" dirty="0"/>
          </a:p>
        </p:txBody>
      </p:sp>
      <p:sp>
        <p:nvSpPr>
          <p:cNvPr id="36" name="Text 27"/>
          <p:cNvSpPr txBox="1"/>
          <p:nvPr/>
        </p:nvSpPr>
        <p:spPr>
          <a:xfrm>
            <a:off x="7205289" y="6108192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offices, 14 districts</a:t>
            </a:r>
            <a:endParaRPr lang="en-US" sz="1150" dirty="0"/>
          </a:p>
        </p:txBody>
      </p:sp>
      <p:sp>
        <p:nvSpPr>
          <p:cNvPr id="37" name="Text 28"/>
          <p:cNvSpPr txBox="1"/>
          <p:nvPr/>
        </p:nvSpPr>
        <p:spPr>
          <a:xfrm>
            <a:off x="9424172" y="5440680"/>
            <a:ext cx="20360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38" name="Text 29"/>
          <p:cNvSpPr txBox="1"/>
          <p:nvPr/>
        </p:nvSpPr>
        <p:spPr>
          <a:xfrm>
            <a:off x="9424172" y="6108192"/>
            <a:ext cx="2036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or ID numbers asked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APPROACH  ·  SYSTEM AND DATA 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071055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 Navigator · PS-07 · Team SleepDeprived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decide. The browser does the work.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475488" cy="475488"/>
          </a:xfrm>
          <a:prstGeom prst="ellipse">
            <a:avLst/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247" y="158593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07008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as data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/ any / not trees; every condition carries its exact source quote and page.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475488" cy="475488"/>
          </a:xfrm>
          <a:prstGeom prst="ellipse">
            <a:avLst/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247" y="2299167"/>
            <a:ext cx="266273" cy="26627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07008" y="21762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Three-valued engine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 false or unknown. Unknown never rejects on its own.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2907792"/>
            <a:ext cx="475488" cy="475488"/>
          </a:xfrm>
          <a:prstGeom prst="ellipse">
            <a:avLst/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" y="3012399"/>
            <a:ext cx="266273" cy="26627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07008" y="288950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questions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can still change a result, in bands cut at the rules' thresholds.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3621024"/>
            <a:ext cx="475488" cy="475488"/>
          </a:xfrm>
          <a:prstGeom prst="ellipse">
            <a:avLst/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" y="3725631"/>
            <a:ext cx="266273" cy="266273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07008" y="360273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and offline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never reach our server. Only voice and hosted AI need internet.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4526280" y="1444752"/>
            <a:ext cx="2240280" cy="2761488"/>
          </a:xfrm>
          <a:prstGeom prst="roundRect">
            <a:avLst>
              <a:gd name="adj" fmla="val 326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663440" y="15544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TIME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922008" y="1444752"/>
            <a:ext cx="2468880" cy="2761488"/>
          </a:xfrm>
          <a:prstGeom prst="roundRect">
            <a:avLst>
              <a:gd name="adj" fmla="val 2963"/>
            </a:avLst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059168" y="1554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BROWSER · OFFLINE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46336" y="1444752"/>
            <a:ext cx="2221992" cy="2761488"/>
          </a:xfrm>
          <a:prstGeom prst="roundRect">
            <a:avLst>
              <a:gd name="adj" fmla="val 3292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683496" y="1554480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6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· OPTIONAL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663440" y="182880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718304" y="182880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official sources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· GOs · guidelines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663440" y="2404872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718304" y="2404872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Workbook (xlsx)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+ page per rule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663440" y="2980944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718304" y="2980944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data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· convert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4663440" y="3557016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3A4540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4718304" y="3557016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dataset.json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rule audit in CI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5646420" y="2286000"/>
            <a:ext cx="0" cy="118872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5646420" y="2862072"/>
            <a:ext cx="0" cy="118872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5646420" y="3438144"/>
            <a:ext cx="0" cy="118872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7059168" y="182880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114032" y="182880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· Easy Mode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or voice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7059168" y="2404872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16624A"/>
          </a:solidFill>
          <a:ln w="9525">
            <a:solidFill>
              <a:srgbClr val="16624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114032" y="2404872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 T / F / U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picks next question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7059168" y="2980944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114032" y="2980944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why · documents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offices · one step away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7059168" y="3557016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114032" y="355701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quotes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Chrome on-device AI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7882128" y="2286000"/>
            <a:ext cx="0" cy="118872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43" name="Shape 37"/>
          <p:cNvSpPr/>
          <p:nvPr/>
        </p:nvSpPr>
        <p:spPr>
          <a:xfrm flipV="1">
            <a:off x="8430768" y="2286000"/>
            <a:ext cx="0" cy="118872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44" name="Shape 38"/>
          <p:cNvSpPr/>
          <p:nvPr/>
        </p:nvSpPr>
        <p:spPr>
          <a:xfrm>
            <a:off x="8156448" y="2862072"/>
            <a:ext cx="0" cy="118872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45" name="Shape 39"/>
          <p:cNvSpPr/>
          <p:nvPr/>
        </p:nvSpPr>
        <p:spPr>
          <a:xfrm>
            <a:off x="8156448" y="3438144"/>
            <a:ext cx="0" cy="118872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46" name="Shape 40"/>
          <p:cNvSpPr/>
          <p:nvPr/>
        </p:nvSpPr>
        <p:spPr>
          <a:xfrm>
            <a:off x="6629400" y="3785616"/>
            <a:ext cx="411480" cy="0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47" name="Shape 41"/>
          <p:cNvSpPr/>
          <p:nvPr/>
        </p:nvSpPr>
        <p:spPr>
          <a:xfrm>
            <a:off x="6976872" y="2633472"/>
            <a:ext cx="0" cy="1152144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6976872" y="2633472"/>
            <a:ext cx="73152" cy="0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49" name="Shape 43"/>
          <p:cNvSpPr/>
          <p:nvPr/>
        </p:nvSpPr>
        <p:spPr>
          <a:xfrm>
            <a:off x="9683496" y="1828800"/>
            <a:ext cx="19476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738360" y="1828800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opt-in, confirmed</a:t>
            </a:r>
            <a:endParaRPr 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9683496" y="2404872"/>
            <a:ext cx="19476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38360" y="2404872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/api/screen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stateless, reviewers</a:t>
            </a:r>
            <a:endParaRPr 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9683496" y="2980944"/>
            <a:ext cx="1947672" cy="457200"/>
          </a:xfrm>
          <a:prstGeom prst="roundRect">
            <a:avLst>
              <a:gd name="adj" fmla="val 10000"/>
            </a:avLst>
          </a:prstGeom>
          <a:solidFill>
            <a:srgbClr val="E4A11B"/>
          </a:solidFill>
          <a:ln w="9525">
            <a:solidFill>
              <a:srgbClr val="E4A11B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9738360" y="2980944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model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· free tier</a:t>
            </a:r>
            <a:endParaRPr lang="en-US" sz="950" dirty="0"/>
          </a:p>
        </p:txBody>
      </p:sp>
      <p:sp>
        <p:nvSpPr>
          <p:cNvPr id="55" name="Shape 49"/>
          <p:cNvSpPr/>
          <p:nvPr/>
        </p:nvSpPr>
        <p:spPr>
          <a:xfrm>
            <a:off x="9683496" y="3557016"/>
            <a:ext cx="19476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738360" y="3557016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/api/assist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scheme + question only</a:t>
            </a:r>
            <a:endParaRPr lang="en-US" sz="950" dirty="0"/>
          </a:p>
        </p:txBody>
      </p:sp>
      <p:sp>
        <p:nvSpPr>
          <p:cNvPr id="57" name="Shape 51"/>
          <p:cNvSpPr/>
          <p:nvPr/>
        </p:nvSpPr>
        <p:spPr>
          <a:xfrm>
            <a:off x="9253728" y="2057400"/>
            <a:ext cx="429768" cy="0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58" name="Shape 52"/>
          <p:cNvSpPr/>
          <p:nvPr/>
        </p:nvSpPr>
        <p:spPr>
          <a:xfrm>
            <a:off x="9253728" y="3785616"/>
            <a:ext cx="429768" cy="0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sp>
        <p:nvSpPr>
          <p:cNvPr id="59" name="Shape 53"/>
          <p:cNvSpPr/>
          <p:nvPr/>
        </p:nvSpPr>
        <p:spPr>
          <a:xfrm flipV="1">
            <a:off x="10657332" y="3438144"/>
            <a:ext cx="0" cy="118872"/>
          </a:xfrm>
          <a:prstGeom prst="line">
            <a:avLst/>
          </a:prstGeom>
          <a:noFill/>
          <a:ln w="12700">
            <a:solidFill>
              <a:srgbClr val="5B6560"/>
            </a:solidFill>
            <a:prstDash val="solid"/>
            <a:tailEnd type="triangle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206240"/>
                <a:gridCol w="2148840"/>
                <a:gridCol w="17190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6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Stored 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6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Kept?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6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62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Rules, documents, offices, strings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dataset.json bundled in the page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artefact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62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Household answers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 memory only; never the URL or browser storage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No: Clear, close or idle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62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Recorded audio, fonts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files, self-hosted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62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/api/screen · /api/assist · /api/health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Stateless server, no-store, no logging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6A0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Assist hides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Voice input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Browser speech service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by 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6A0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Hides itself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APPROACH  · 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071055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 Navigator · PS-07 · Team SleepDeprived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rule carries its source sentence.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72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sources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tier 1 · 31 tier 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1627632"/>
            <a:ext cx="33755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KFWFB welfare schemes guideline 2025 · Fisheries Department scheme pages and district officers · Small Plantation Workers' Welfare Fund Act 2008, board pages and forms · G.O.(P) 81/2024/LBR · Matsyafed and Akshaya directories.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has authority, URL or stored copy, and access 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55868" y="146304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0188" y="16276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0772" y="1728216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70268" y="1609344"/>
            <a:ext cx="42441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· operator · value · OR-group · changeable · how-to · source · exact quote · page · reviewer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· EN/ML question · unit · sensitivity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schemes 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· authority · summary · 3 verification levels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· offices · terms · disclaimer · 32 test profiles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0664" y="3986784"/>
            <a:ext cx="9245346" cy="0"/>
          </a:xfrm>
          <a:prstGeom prst="line">
            <a:avLst/>
          </a:prstGeom>
          <a:noFill/>
          <a:ln w="19050">
            <a:solidFill>
              <a:srgbClr val="D3D9D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279392"/>
            <a:ext cx="16661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copied from the source with its page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397709" y="3794760"/>
            <a:ext cx="384048" cy="384048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397709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397709" y="4279392"/>
            <a:ext cx="16661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Workbook validated; build fails on errors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246778" y="3794760"/>
            <a:ext cx="384048" cy="384048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4677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246778" y="4279392"/>
            <a:ext cx="16661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OR-groups become all / any / not trees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095848" y="3794760"/>
            <a:ext cx="384048" cy="384048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9584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095848" y="4279392"/>
            <a:ext cx="16661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become bands at rule thresholds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944917" y="3794760"/>
            <a:ext cx="384048" cy="384048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4491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944917" y="4279392"/>
            <a:ext cx="16661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Districts and offices normalised to 14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793986" y="3794760"/>
            <a:ext cx="384048" cy="384048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793986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793986" y="4279392"/>
            <a:ext cx="16661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audit checks thresholds and wording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4983480"/>
            <a:ext cx="384048" cy="384048"/>
          </a:xfrm>
          <a:prstGeom prst="ellipse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5067971"/>
            <a:ext cx="215067" cy="215067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051560" y="50383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5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440680"/>
            <a:ext cx="53871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 conditions quoted; second review still pending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Legacy-font Malayalam PDFs read and typed by hand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FISH-07 has no published route; 6 schemes lack a document list (shown on screen)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verified office coordinates, so no distances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snapshot as of each access date; not an official service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6255868" y="4983480"/>
            <a:ext cx="384048" cy="384048"/>
          </a:xfrm>
          <a:prstGeom prst="ellipse">
            <a:avLst/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0358" y="5067971"/>
            <a:ext cx="215067" cy="215067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758788" y="50383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controls</a:t>
            </a:r>
            <a:endParaRPr lang="en-US" sz="1350" dirty="0"/>
          </a:p>
        </p:txBody>
      </p:sp>
      <p:sp>
        <p:nvSpPr>
          <p:cNvPr id="41" name="Text 36"/>
          <p:cNvSpPr txBox="1"/>
          <p:nvPr/>
        </p:nvSpPr>
        <p:spPr>
          <a:xfrm>
            <a:off x="6255868" y="5440680"/>
            <a:ext cx="53871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name, phone, Aadhaar, address or free-text field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Income, age, years asked as bands; Prefer not to say offered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in tab memory only; Clear, close or idle erases them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checklist carries documents and offices, never answers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no-store, no logs; AI helper rejects answers; voice disclosed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071055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 Navigator · PS-07 · Team SleepDeprived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answers. 6 schemes worth asking about.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22376" y="1655064"/>
            <a:ext cx="0" cy="2468880"/>
          </a:xfrm>
          <a:prstGeom prst="line">
            <a:avLst/>
          </a:prstGeom>
          <a:noFill/>
          <a:ln w="19050">
            <a:solidFill>
              <a:srgbClr val="D3D9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81328"/>
            <a:ext cx="347472" cy="347472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5F7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481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453896"/>
            <a:ext cx="5349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and mode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Malayalam or English; Easy Mode reads everything aloud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975104"/>
            <a:ext cx="347472" cy="347472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5F7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975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947672"/>
            <a:ext cx="5349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Livelihood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Fishing, plantation, allied work, or more than one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468880"/>
            <a:ext cx="347472" cy="347472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5F7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68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441448"/>
            <a:ext cx="5349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12 questions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ones that can still change a result; I don't know is always there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2962656"/>
            <a:ext cx="347472" cy="347472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5F7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935224"/>
            <a:ext cx="5349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potentially eligible, 1 one step away, under the approved disclaimer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5F7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456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429000"/>
            <a:ext cx="5349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condition shows your answer, the rule, the official quote and page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950208"/>
            <a:ext cx="347472" cy="347472"/>
          </a:xfrm>
          <a:prstGeom prst="ellipse">
            <a:avLst/>
          </a:prstGeom>
          <a:solidFill>
            <a:srgbClr val="16624A"/>
          </a:solidFill>
          <a:ln w="25400">
            <a:solidFill>
              <a:srgbClr val="F5F7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9502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3922776"/>
            <a:ext cx="5349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and office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documents merged across 6 schemes, the right office, Clear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58521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709160"/>
            <a:ext cx="420624" cy="420624"/>
          </a:xfrm>
          <a:prstGeom prst="ellipse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057" y="4801697"/>
            <a:ext cx="235549" cy="235549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325880" y="4672584"/>
            <a:ext cx="48920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case: contributions in arrears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Answering No to “contributions fully paid” makes Marriage Assistance Not matched, but it stays visible as one step away: clear the arrears at the Fisheries Office. The engine re-runs with that one fixable condition flipped. Nothing is promised.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5715000"/>
            <a:ext cx="5852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3D9D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1520" y="5897880"/>
            <a:ext cx="420624" cy="420624"/>
          </a:xfrm>
          <a:prstGeom prst="ellipse">
            <a:avLst/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057" y="5990417"/>
            <a:ext cx="235549" cy="23554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1325880" y="5861304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case: no internet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B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and the AI rewrite hide themselves; screening, audio, quotes and results keep working.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6564093" y="1417320"/>
            <a:ext cx="2379461" cy="4965192"/>
          </a:xfrm>
          <a:prstGeom prst="roundRect">
            <a:avLst>
              <a:gd name="adj" fmla="val 6917"/>
            </a:avLst>
          </a:prstGeom>
          <a:solidFill>
            <a:srgbClr val="1B1F1D"/>
          </a:solidFill>
          <a:ln w="12700">
            <a:solidFill>
              <a:srgbClr val="1B1F1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389" y="1499616"/>
            <a:ext cx="2214869" cy="480060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6564093" y="6455664"/>
            <a:ext cx="23794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9263594" y="1417320"/>
            <a:ext cx="2379461" cy="4965192"/>
          </a:xfrm>
          <a:prstGeom prst="roundRect">
            <a:avLst>
              <a:gd name="adj" fmla="val 6917"/>
            </a:avLst>
          </a:prstGeom>
          <a:solidFill>
            <a:srgbClr val="1B1F1D"/>
          </a:solidFill>
          <a:ln w="12700">
            <a:solidFill>
              <a:srgbClr val="1B1F1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890" y="1499616"/>
            <a:ext cx="2214869" cy="480060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9263594" y="6455664"/>
            <a:ext cx="23794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case: one step away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IMPACT   ·   6  LIMITATIONS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071055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 Navigator · PS-07 · Team SleepDeprived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wasted trips, and a reason for every result.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87188" cy="2423160"/>
          </a:xfrm>
          <a:prstGeom prst="roundRect">
            <a:avLst>
              <a:gd name="adj" fmla="val 3019"/>
            </a:avLst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64208"/>
            <a:ext cx="402336" cy="402336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754" y="1752722"/>
            <a:ext cx="225308" cy="2253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719072"/>
            <a:ext cx="43813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42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32 schemes to ask about, in one sitting instead of several office visits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step away turns a silent rejection into an action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answer-free checklist and the right office cut failed trips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Akshaya operator screens family after family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threshold change is a workbook edit, checked by tests and the audit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55868" y="1463040"/>
            <a:ext cx="5387188" cy="2423160"/>
          </a:xfrm>
          <a:prstGeom prst="roundRect">
            <a:avLst>
              <a:gd name="adj" fmla="val 3019"/>
            </a:avLst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84468" y="1664208"/>
            <a:ext cx="402336" cy="402336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982" y="1752722"/>
            <a:ext cx="225308" cy="2253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33108" y="1719072"/>
            <a:ext cx="43813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530188" y="2194560"/>
            <a:ext cx="48842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screening, not a decision; the office verifies documents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await second review; Malayalam UI awaits native review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needs Chrome and internet; weak on spoken numbers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tested with families; impact is what the design enables, not a measured result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069080"/>
            <a:ext cx="5387188" cy="2468880"/>
          </a:xfrm>
          <a:prstGeom prst="roundRect">
            <a:avLst>
              <a:gd name="adj" fmla="val 2963"/>
            </a:avLst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270248"/>
            <a:ext cx="402336" cy="402336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754" y="4358762"/>
            <a:ext cx="225308" cy="2253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25880" y="4325112"/>
            <a:ext cx="43813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use declaration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" y="4800600"/>
            <a:ext cx="48842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5.5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coding, review, tests, docs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GPT-6 Sol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coding, Malayalam and English drafts, source cross-checks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ElevenLabs v3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audio   </a:t>
            </a:r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speech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voice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helper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on-device AI or Ollama gemma3:4b; free, no key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 decides or rewords eligibility, or sees a family's answers.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55868" y="4069080"/>
            <a:ext cx="5387188" cy="2468880"/>
          </a:xfrm>
          <a:prstGeom prst="roundRect">
            <a:avLst>
              <a:gd name="adj" fmla="val 2963"/>
            </a:avLst>
          </a:prstGeom>
          <a:solidFill>
            <a:srgbClr val="174A3B"/>
          </a:solidFill>
          <a:ln w="12700">
            <a:solidFill>
              <a:srgbClr val="174A3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84468" y="4270248"/>
            <a:ext cx="402336" cy="402336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982" y="4358762"/>
            <a:ext cx="225308" cy="2253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33108" y="4325112"/>
            <a:ext cx="43813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and our response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530188" y="4800600"/>
            <a:ext cx="48842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  </a:t>
            </a:r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“Add an AI component.”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plain-language helper grounded in official quotes, running free on-device or on a local model, plus an AI-assisted rule audit in CI.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4A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testing taught us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1–3B models: guard rejected 3 of 4 bad answers; one misread eligibility, so AI is now barred from eligibility.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D5E3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log in FEEDBACK.md · commit 187b71c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Welfare Navigator · PS-07</dc:title>
  <dc:subject>PptxGenJS Presentation</dc:subject>
  <dc:creator>Team SleepDeprived</dc:creator>
  <cp:lastModifiedBy>Team SleepDeprived</cp:lastModifiedBy>
  <cp:revision>1</cp:revision>
  <dcterms:created xsi:type="dcterms:W3CDTF">2026-09-24T08:08:17Z</dcterms:created>
  <dcterms:modified xsi:type="dcterms:W3CDTF">2026-09-24T08:08:17Z</dcterms:modified>
</cp:coreProperties>
</file>