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Problem: the rules are public but scattered and partly unreadable, and one fixable gap blocks a benefit with no explanation. Users: fisher and allied families, plantation families, Akshaya operators and field workers, and the department officers who keep the rules current.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Build time: sources to workbook to validated dataset.json, gated by the rule audit in CI. In the browser: the engine evaluates true, false or unknown and picks the next question; results and quotes render locally. Online and optional: voice, the reviewer API, and the assist API, which receives only scheme id, question type and language.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Sources, fields, transformations, limitations and privacy controls, as in the README. The limitations come from our own rule audit and reviewer page.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path. Then invite the judges to give us any household from their sheet and run it on /review against the same engine. Screenshots are from the current 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Impact is what the design enables; we have not measured outcomes with families yet. AI declaration matches the README. Later rounds are logged in FEEDBACK.md.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4A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PROBLEM   ·   2  USERS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071055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D5E3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Welfare Navigator · PS-07 · Team SleepDeprived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rules exist. Families cannot reach them.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D5E3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bilingual Malayalam–English screener that tells Kerala's fishing and plantation families which welfare schemes they may potentially be eligible for, why, what to bring, and where to go.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2402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4A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512064" cy="512064"/>
          </a:xfrm>
          <a:prstGeom prst="ellipse">
            <a:avLst/>
          </a:prstGeom>
          <a:solidFill>
            <a:srgbClr val="174A3B"/>
          </a:solidFill>
          <a:ln w="12700">
            <a:solidFill>
              <a:srgbClr val="174A3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294" y="2718694"/>
            <a:ext cx="286756" cy="28675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80160" y="2587752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 official sources, many unreadable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D5E3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Conditions sit across PDFs, pages, Acts and orders, many in legacy-font Malayalam that cannot be searched.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48640" y="3447288"/>
            <a:ext cx="512064" cy="512064"/>
          </a:xfrm>
          <a:prstGeom prst="ellipse">
            <a:avLst/>
          </a:prstGeom>
          <a:solidFill>
            <a:srgbClr val="174A3B"/>
          </a:solidFill>
          <a:ln w="12700">
            <a:solidFill>
              <a:srgbClr val="174A3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294" y="3559942"/>
            <a:ext cx="286756" cy="2867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280160" y="342900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bodies, five sets of offices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D5E3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welfare boards, Fisheries, Matsyafed and the Labour Commissionerate each own different benefits.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548640" y="4288536"/>
            <a:ext cx="512064" cy="512064"/>
          </a:xfrm>
          <a:prstGeom prst="ellipse">
            <a:avLst/>
          </a:prstGeom>
          <a:solidFill>
            <a:srgbClr val="174A3B"/>
          </a:solidFill>
          <a:ln w="12700">
            <a:solidFill>
              <a:srgbClr val="174A3B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294" y="4401190"/>
            <a:ext cx="286756" cy="28675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80160" y="4270248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fixable gap blocks a benefit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D5E3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Unpaid Welfare Fund contributions quietly rule a family out, and nobody tells them why.</a:t>
            </a:r>
            <a:endParaRPr lang="en-US" sz="1350" dirty="0"/>
          </a:p>
        </p:txBody>
      </p:sp>
      <p:sp>
        <p:nvSpPr>
          <p:cNvPr id="16" name="Text 11"/>
          <p:cNvSpPr txBox="1"/>
          <p:nvPr/>
        </p:nvSpPr>
        <p:spPr>
          <a:xfrm>
            <a:off x="6446520" y="22402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4A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IT'S FOR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6446520" y="2606040"/>
            <a:ext cx="457200" cy="457200"/>
          </a:xfrm>
          <a:prstGeom prst="ellipse">
            <a:avLst/>
          </a:prstGeom>
          <a:solidFill>
            <a:srgbClr val="174A3B"/>
          </a:solidFill>
          <a:ln w="12700">
            <a:solidFill>
              <a:srgbClr val="174A3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7104" y="2706624"/>
            <a:ext cx="256032" cy="25603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104888" y="2587752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Fisher and allied fish-worker families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D5E3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Mode, recorded Malayalam audio, big buttons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6446520" y="3236976"/>
            <a:ext cx="457200" cy="457200"/>
          </a:xfrm>
          <a:prstGeom prst="ellipse">
            <a:avLst/>
          </a:prstGeom>
          <a:solidFill>
            <a:srgbClr val="174A3B"/>
          </a:solidFill>
          <a:ln w="12700">
            <a:solidFill>
              <a:srgbClr val="174A3B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7104" y="3337560"/>
            <a:ext cx="256032" cy="256032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7104888" y="3218688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plantation and estate families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D5E3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Mixed livelihoods, so work is multi-select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6446520" y="3867912"/>
            <a:ext cx="457200" cy="457200"/>
          </a:xfrm>
          <a:prstGeom prst="ellipse">
            <a:avLst/>
          </a:prstGeom>
          <a:solidFill>
            <a:srgbClr val="174A3B"/>
          </a:solidFill>
          <a:ln w="12700">
            <a:solidFill>
              <a:srgbClr val="174A3B"/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7104" y="3968496"/>
            <a:ext cx="256032" cy="256032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7104888" y="3849624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Akshaya operators and field workers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D5E3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Assisted mode clears answers after 3 idle minutes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6446520" y="4498848"/>
            <a:ext cx="457200" cy="457200"/>
          </a:xfrm>
          <a:prstGeom prst="ellipse">
            <a:avLst/>
          </a:prstGeom>
          <a:solidFill>
            <a:srgbClr val="174A3B"/>
          </a:solidFill>
          <a:ln w="12700">
            <a:solidFill>
              <a:srgbClr val="174A3B"/>
            </a:solidFill>
            <a:prstDash val="solid"/>
          </a:ln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7104" y="4599432"/>
            <a:ext cx="256032" cy="256032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7104888" y="4480560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officers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D5E3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maintained as workbook data, checked in CI</a:t>
            </a:r>
            <a:endParaRPr lang="en-US" sz="1300" dirty="0"/>
          </a:p>
        </p:txBody>
      </p:sp>
      <p:sp>
        <p:nvSpPr>
          <p:cNvPr id="29" name="Text 20"/>
          <p:cNvSpPr txBox="1"/>
          <p:nvPr/>
        </p:nvSpPr>
        <p:spPr>
          <a:xfrm>
            <a:off x="548640" y="5440680"/>
            <a:ext cx="203600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4A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4000" dirty="0"/>
          </a:p>
        </p:txBody>
      </p:sp>
      <p:sp>
        <p:nvSpPr>
          <p:cNvPr id="30" name="Text 21"/>
          <p:cNvSpPr txBox="1"/>
          <p:nvPr/>
        </p:nvSpPr>
        <p:spPr>
          <a:xfrm>
            <a:off x="548640" y="6108192"/>
            <a:ext cx="20360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5E3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schemes encoded</a:t>
            </a:r>
            <a:endParaRPr lang="en-US" sz="1150" dirty="0"/>
          </a:p>
        </p:txBody>
      </p:sp>
      <p:sp>
        <p:nvSpPr>
          <p:cNvPr id="31" name="Text 22"/>
          <p:cNvSpPr txBox="1"/>
          <p:nvPr/>
        </p:nvSpPr>
        <p:spPr>
          <a:xfrm>
            <a:off x="2767523" y="5440680"/>
            <a:ext cx="203600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4A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106</a:t>
            </a:r>
            <a:endParaRPr lang="en-US" sz="4000" dirty="0"/>
          </a:p>
        </p:txBody>
      </p:sp>
      <p:sp>
        <p:nvSpPr>
          <p:cNvPr id="32" name="Text 23"/>
          <p:cNvSpPr txBox="1"/>
          <p:nvPr/>
        </p:nvSpPr>
        <p:spPr>
          <a:xfrm>
            <a:off x="2767523" y="6108192"/>
            <a:ext cx="20360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5E3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conditions, each quoted</a:t>
            </a:r>
            <a:endParaRPr lang="en-US" sz="1150" dirty="0"/>
          </a:p>
        </p:txBody>
      </p:sp>
      <p:sp>
        <p:nvSpPr>
          <p:cNvPr id="33" name="Text 24"/>
          <p:cNvSpPr txBox="1"/>
          <p:nvPr/>
        </p:nvSpPr>
        <p:spPr>
          <a:xfrm>
            <a:off x="4986406" y="5440680"/>
            <a:ext cx="203600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4A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4000" dirty="0"/>
          </a:p>
        </p:txBody>
      </p:sp>
      <p:sp>
        <p:nvSpPr>
          <p:cNvPr id="34" name="Text 25"/>
          <p:cNvSpPr txBox="1"/>
          <p:nvPr/>
        </p:nvSpPr>
        <p:spPr>
          <a:xfrm>
            <a:off x="4986406" y="6108192"/>
            <a:ext cx="20360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5E3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sources</a:t>
            </a:r>
            <a:endParaRPr lang="en-US" sz="1150" dirty="0"/>
          </a:p>
        </p:txBody>
      </p:sp>
      <p:sp>
        <p:nvSpPr>
          <p:cNvPr id="35" name="Text 26"/>
          <p:cNvSpPr txBox="1"/>
          <p:nvPr/>
        </p:nvSpPr>
        <p:spPr>
          <a:xfrm>
            <a:off x="7205289" y="5440680"/>
            <a:ext cx="203600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4A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</a:t>
            </a:r>
            <a:endParaRPr lang="en-US" sz="4000" dirty="0"/>
          </a:p>
        </p:txBody>
      </p:sp>
      <p:sp>
        <p:nvSpPr>
          <p:cNvPr id="36" name="Text 27"/>
          <p:cNvSpPr txBox="1"/>
          <p:nvPr/>
        </p:nvSpPr>
        <p:spPr>
          <a:xfrm>
            <a:off x="7205289" y="6108192"/>
            <a:ext cx="20360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5E3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offices, 14 districts</a:t>
            </a:r>
            <a:endParaRPr lang="en-US" sz="1150" dirty="0"/>
          </a:p>
        </p:txBody>
      </p:sp>
      <p:sp>
        <p:nvSpPr>
          <p:cNvPr id="37" name="Text 28"/>
          <p:cNvSpPr txBox="1"/>
          <p:nvPr/>
        </p:nvSpPr>
        <p:spPr>
          <a:xfrm>
            <a:off x="9424172" y="5440680"/>
            <a:ext cx="203600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4A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000" dirty="0"/>
          </a:p>
        </p:txBody>
      </p:sp>
      <p:sp>
        <p:nvSpPr>
          <p:cNvPr id="38" name="Text 29"/>
          <p:cNvSpPr txBox="1"/>
          <p:nvPr/>
        </p:nvSpPr>
        <p:spPr>
          <a:xfrm>
            <a:off x="9424172" y="6108192"/>
            <a:ext cx="20360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5E3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names or ID numbers asked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6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APPROACH  ·  SYSTEM AND DATA FLOW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071055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Welfare Navigator · PS-07 · Team SleepDeprived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decide. The browser does the work.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475488" cy="475488"/>
          </a:xfrm>
          <a:prstGeom prst="ellipse">
            <a:avLst/>
          </a:prstGeom>
          <a:solidFill>
            <a:srgbClr val="E8F1EC"/>
          </a:solidFill>
          <a:ln w="12700">
            <a:solidFill>
              <a:srgbClr val="E8F1E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247" y="1585935"/>
            <a:ext cx="266273" cy="26627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07008" y="14630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as data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/ any / not trees; every condition carries its exact source quote and page.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2194560"/>
            <a:ext cx="475488" cy="475488"/>
          </a:xfrm>
          <a:prstGeom prst="ellipse">
            <a:avLst/>
          </a:prstGeom>
          <a:solidFill>
            <a:srgbClr val="E8F1EC"/>
          </a:solidFill>
          <a:ln w="12700">
            <a:solidFill>
              <a:srgbClr val="E8F1EC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247" y="2299167"/>
            <a:ext cx="266273" cy="266273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07008" y="2176272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Three-valued engine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True, false or unknown. Unknown never rejects on its own.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48640" y="2907792"/>
            <a:ext cx="475488" cy="475488"/>
          </a:xfrm>
          <a:prstGeom prst="ellipse">
            <a:avLst/>
          </a:prstGeom>
          <a:solidFill>
            <a:srgbClr val="E8F1EC"/>
          </a:solidFill>
          <a:ln w="12700">
            <a:solidFill>
              <a:srgbClr val="E8F1EC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247" y="3012399"/>
            <a:ext cx="266273" cy="26627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07008" y="2889504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questions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what can still change a result, in bands cut at the rules' thresholds.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548640" y="3621024"/>
            <a:ext cx="475488" cy="475488"/>
          </a:xfrm>
          <a:prstGeom prst="ellipse">
            <a:avLst/>
          </a:prstGeom>
          <a:solidFill>
            <a:srgbClr val="E8F1EC"/>
          </a:solidFill>
          <a:ln w="12700">
            <a:solidFill>
              <a:srgbClr val="E8F1EC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247" y="3725631"/>
            <a:ext cx="266273" cy="266273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207008" y="3602736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On-device and offline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never reach our server. Only voice and the AI rewrite need internet.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4526280" y="1444752"/>
            <a:ext cx="2240280" cy="2761488"/>
          </a:xfrm>
          <a:prstGeom prst="roundRect">
            <a:avLst>
              <a:gd name="adj" fmla="val 3265"/>
            </a:avLst>
          </a:prstGeom>
          <a:solidFill>
            <a:srgbClr val="F1F3F2"/>
          </a:solidFill>
          <a:ln w="12700">
            <a:solidFill>
              <a:srgbClr val="F1F3F2"/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4663440" y="15544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TIME</a:t>
            </a:r>
            <a:endParaRPr lang="en-US" sz="950" dirty="0"/>
          </a:p>
        </p:txBody>
      </p:sp>
      <p:sp>
        <p:nvSpPr>
          <p:cNvPr id="19" name="Shape 13"/>
          <p:cNvSpPr/>
          <p:nvPr/>
        </p:nvSpPr>
        <p:spPr>
          <a:xfrm>
            <a:off x="6922008" y="1444752"/>
            <a:ext cx="2468880" cy="2761488"/>
          </a:xfrm>
          <a:prstGeom prst="roundRect">
            <a:avLst>
              <a:gd name="adj" fmla="val 2963"/>
            </a:avLst>
          </a:prstGeom>
          <a:solidFill>
            <a:srgbClr val="E8F1EC"/>
          </a:solidFill>
          <a:ln w="12700">
            <a:solidFill>
              <a:srgbClr val="E8F1EC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7059168" y="15544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66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BROWSER · OFFLINE</a:t>
            </a:r>
            <a:endParaRPr lang="en-US" sz="950" dirty="0"/>
          </a:p>
        </p:txBody>
      </p:sp>
      <p:sp>
        <p:nvSpPr>
          <p:cNvPr id="21" name="Shape 15"/>
          <p:cNvSpPr/>
          <p:nvPr/>
        </p:nvSpPr>
        <p:spPr>
          <a:xfrm>
            <a:off x="9546336" y="1444752"/>
            <a:ext cx="2221992" cy="2761488"/>
          </a:xfrm>
          <a:prstGeom prst="roundRect">
            <a:avLst>
              <a:gd name="adj" fmla="val 3292"/>
            </a:avLst>
          </a:prstGeom>
          <a:solidFill>
            <a:srgbClr val="FBF1DC"/>
          </a:solidFill>
          <a:ln w="12700">
            <a:solidFill>
              <a:srgbClr val="FBF1DC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9683496" y="1554480"/>
            <a:ext cx="1947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9A6A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· OPTIONAL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4663440" y="1828800"/>
            <a:ext cx="19659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3D9D6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4718304" y="1828800"/>
            <a:ext cx="1856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 official sources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B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Acts · GOs · guidelines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4663440" y="2404872"/>
            <a:ext cx="19659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3D9D6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4718304" y="2404872"/>
            <a:ext cx="1856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Workbook (xlsx)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B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quote + page per rule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4663440" y="2980944"/>
            <a:ext cx="19659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3D9D6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4718304" y="2980944"/>
            <a:ext cx="1856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run data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B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· convert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4663440" y="3557016"/>
            <a:ext cx="1965960" cy="457200"/>
          </a:xfrm>
          <a:prstGeom prst="roundRect">
            <a:avLst>
              <a:gd name="adj" fmla="val 10000"/>
            </a:avLst>
          </a:prstGeom>
          <a:solidFill>
            <a:srgbClr val="3A4540"/>
          </a:solidFill>
          <a:ln w="9525">
            <a:solidFill>
              <a:srgbClr val="3A4540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4718304" y="3557016"/>
            <a:ext cx="1856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dataset.json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rule audit in CI</a:t>
            </a:r>
            <a:endParaRPr lang="en-US" sz="950" dirty="0"/>
          </a:p>
        </p:txBody>
      </p:sp>
      <p:sp>
        <p:nvSpPr>
          <p:cNvPr id="31" name="Shape 25"/>
          <p:cNvSpPr/>
          <p:nvPr/>
        </p:nvSpPr>
        <p:spPr>
          <a:xfrm>
            <a:off x="5646420" y="2286000"/>
            <a:ext cx="0" cy="118872"/>
          </a:xfrm>
          <a:prstGeom prst="line">
            <a:avLst/>
          </a:prstGeom>
          <a:noFill/>
          <a:ln w="12700">
            <a:solidFill>
              <a:srgbClr val="5B6560"/>
            </a:solidFill>
            <a:prstDash val="solid"/>
            <a:tailEnd type="triangle"/>
          </a:ln>
        </p:spPr>
      </p:sp>
      <p:sp>
        <p:nvSpPr>
          <p:cNvPr id="32" name="Shape 26"/>
          <p:cNvSpPr/>
          <p:nvPr/>
        </p:nvSpPr>
        <p:spPr>
          <a:xfrm>
            <a:off x="5646420" y="2862072"/>
            <a:ext cx="0" cy="118872"/>
          </a:xfrm>
          <a:prstGeom prst="line">
            <a:avLst/>
          </a:prstGeom>
          <a:noFill/>
          <a:ln w="12700">
            <a:solidFill>
              <a:srgbClr val="5B6560"/>
            </a:solidFill>
            <a:prstDash val="solid"/>
            <a:tailEnd type="triangle"/>
          </a:ln>
        </p:spPr>
      </p:sp>
      <p:sp>
        <p:nvSpPr>
          <p:cNvPr id="33" name="Shape 27"/>
          <p:cNvSpPr/>
          <p:nvPr/>
        </p:nvSpPr>
        <p:spPr>
          <a:xfrm>
            <a:off x="5646420" y="3438144"/>
            <a:ext cx="0" cy="118872"/>
          </a:xfrm>
          <a:prstGeom prst="line">
            <a:avLst/>
          </a:prstGeom>
          <a:noFill/>
          <a:ln w="12700">
            <a:solidFill>
              <a:srgbClr val="5B6560"/>
            </a:solidFill>
            <a:prstDash val="solid"/>
            <a:tailEnd type="triangle"/>
          </a:ln>
        </p:spPr>
      </p:sp>
      <p:sp>
        <p:nvSpPr>
          <p:cNvPr id="34" name="Shape 28"/>
          <p:cNvSpPr/>
          <p:nvPr/>
        </p:nvSpPr>
        <p:spPr>
          <a:xfrm>
            <a:off x="7059168" y="1828800"/>
            <a:ext cx="21945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3D9D6"/>
            </a:solidFill>
            <a:prstDash val="solid"/>
          </a:ln>
        </p:spPr>
      </p:sp>
      <p:sp>
        <p:nvSpPr>
          <p:cNvPr id="35" name="Text 29"/>
          <p:cNvSpPr txBox="1"/>
          <p:nvPr/>
        </p:nvSpPr>
        <p:spPr>
          <a:xfrm>
            <a:off x="7114032" y="182880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· Easy Mode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B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or voice</a:t>
            </a:r>
            <a:endParaRPr lang="en-US" sz="950" dirty="0"/>
          </a:p>
        </p:txBody>
      </p:sp>
      <p:sp>
        <p:nvSpPr>
          <p:cNvPr id="36" name="Shape 30"/>
          <p:cNvSpPr/>
          <p:nvPr/>
        </p:nvSpPr>
        <p:spPr>
          <a:xfrm>
            <a:off x="7059168" y="2404872"/>
            <a:ext cx="2194560" cy="457200"/>
          </a:xfrm>
          <a:prstGeom prst="roundRect">
            <a:avLst>
              <a:gd name="adj" fmla="val 10000"/>
            </a:avLst>
          </a:prstGeom>
          <a:solidFill>
            <a:srgbClr val="16624A"/>
          </a:solidFill>
          <a:ln w="9525">
            <a:solidFill>
              <a:srgbClr val="16624A"/>
            </a:solidFill>
            <a:prstDash val="solid"/>
          </a:ln>
        </p:spPr>
      </p:sp>
      <p:sp>
        <p:nvSpPr>
          <p:cNvPr id="37" name="Text 31"/>
          <p:cNvSpPr txBox="1"/>
          <p:nvPr/>
        </p:nvSpPr>
        <p:spPr>
          <a:xfrm>
            <a:off x="7114032" y="2404872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  T / F / U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picks next question</a:t>
            </a:r>
            <a:endParaRPr lang="en-US" sz="950" dirty="0"/>
          </a:p>
        </p:txBody>
      </p:sp>
      <p:sp>
        <p:nvSpPr>
          <p:cNvPr id="38" name="Shape 32"/>
          <p:cNvSpPr/>
          <p:nvPr/>
        </p:nvSpPr>
        <p:spPr>
          <a:xfrm>
            <a:off x="7059168" y="2980944"/>
            <a:ext cx="21945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3D9D6"/>
            </a:solidFill>
            <a:prstDash val="solid"/>
          </a:ln>
        </p:spPr>
      </p:sp>
      <p:sp>
        <p:nvSpPr>
          <p:cNvPr id="39" name="Text 33"/>
          <p:cNvSpPr txBox="1"/>
          <p:nvPr/>
        </p:nvSpPr>
        <p:spPr>
          <a:xfrm>
            <a:off x="7114032" y="2980944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· why · documents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B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offices · one step away</a:t>
            </a:r>
            <a:endParaRPr lang="en-US" sz="950" dirty="0"/>
          </a:p>
        </p:txBody>
      </p:sp>
      <p:sp>
        <p:nvSpPr>
          <p:cNvPr id="40" name="Shape 34"/>
          <p:cNvSpPr/>
          <p:nvPr/>
        </p:nvSpPr>
        <p:spPr>
          <a:xfrm>
            <a:off x="7059168" y="3557016"/>
            <a:ext cx="21945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3D9D6"/>
            </a:solidFill>
            <a:prstDash val="solid"/>
          </a:ln>
        </p:spPr>
      </p:sp>
      <p:sp>
        <p:nvSpPr>
          <p:cNvPr id="41" name="Text 35"/>
          <p:cNvSpPr txBox="1"/>
          <p:nvPr/>
        </p:nvSpPr>
        <p:spPr>
          <a:xfrm>
            <a:off x="7114032" y="3557016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quotes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B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scheme question</a:t>
            </a:r>
            <a:endParaRPr lang="en-US" sz="950" dirty="0"/>
          </a:p>
        </p:txBody>
      </p:sp>
      <p:sp>
        <p:nvSpPr>
          <p:cNvPr id="42" name="Shape 36"/>
          <p:cNvSpPr/>
          <p:nvPr/>
        </p:nvSpPr>
        <p:spPr>
          <a:xfrm>
            <a:off x="7882128" y="2286000"/>
            <a:ext cx="0" cy="118872"/>
          </a:xfrm>
          <a:prstGeom prst="line">
            <a:avLst/>
          </a:prstGeom>
          <a:noFill/>
          <a:ln w="12700">
            <a:solidFill>
              <a:srgbClr val="5B6560"/>
            </a:solidFill>
            <a:prstDash val="solid"/>
            <a:tailEnd type="triangle"/>
          </a:ln>
        </p:spPr>
      </p:sp>
      <p:sp>
        <p:nvSpPr>
          <p:cNvPr id="43" name="Shape 37"/>
          <p:cNvSpPr/>
          <p:nvPr/>
        </p:nvSpPr>
        <p:spPr>
          <a:xfrm flipV="1">
            <a:off x="8430768" y="2286000"/>
            <a:ext cx="0" cy="118872"/>
          </a:xfrm>
          <a:prstGeom prst="line">
            <a:avLst/>
          </a:prstGeom>
          <a:noFill/>
          <a:ln w="12700">
            <a:solidFill>
              <a:srgbClr val="5B6560"/>
            </a:solidFill>
            <a:prstDash val="solid"/>
            <a:tailEnd type="triangle"/>
          </a:ln>
        </p:spPr>
      </p:sp>
      <p:sp>
        <p:nvSpPr>
          <p:cNvPr id="44" name="Shape 38"/>
          <p:cNvSpPr/>
          <p:nvPr/>
        </p:nvSpPr>
        <p:spPr>
          <a:xfrm>
            <a:off x="8156448" y="2862072"/>
            <a:ext cx="0" cy="118872"/>
          </a:xfrm>
          <a:prstGeom prst="line">
            <a:avLst/>
          </a:prstGeom>
          <a:noFill/>
          <a:ln w="12700">
            <a:solidFill>
              <a:srgbClr val="5B6560"/>
            </a:solidFill>
            <a:prstDash val="solid"/>
            <a:tailEnd type="triangle"/>
          </a:ln>
        </p:spPr>
      </p:sp>
      <p:sp>
        <p:nvSpPr>
          <p:cNvPr id="45" name="Shape 39"/>
          <p:cNvSpPr/>
          <p:nvPr/>
        </p:nvSpPr>
        <p:spPr>
          <a:xfrm>
            <a:off x="8156448" y="3438144"/>
            <a:ext cx="0" cy="118872"/>
          </a:xfrm>
          <a:prstGeom prst="line">
            <a:avLst/>
          </a:prstGeom>
          <a:noFill/>
          <a:ln w="12700">
            <a:solidFill>
              <a:srgbClr val="5B6560"/>
            </a:solidFill>
            <a:prstDash val="solid"/>
            <a:tailEnd type="triangle"/>
          </a:ln>
        </p:spPr>
      </p:sp>
      <p:sp>
        <p:nvSpPr>
          <p:cNvPr id="46" name="Shape 40"/>
          <p:cNvSpPr/>
          <p:nvPr/>
        </p:nvSpPr>
        <p:spPr>
          <a:xfrm>
            <a:off x="6629400" y="3785616"/>
            <a:ext cx="411480" cy="0"/>
          </a:xfrm>
          <a:prstGeom prst="line">
            <a:avLst/>
          </a:prstGeom>
          <a:noFill/>
          <a:ln w="12700">
            <a:solidFill>
              <a:srgbClr val="5B6560"/>
            </a:solidFill>
            <a:prstDash val="solid"/>
            <a:tailEnd type="triangle"/>
          </a:ln>
        </p:spPr>
      </p:sp>
      <p:sp>
        <p:nvSpPr>
          <p:cNvPr id="47" name="Shape 41"/>
          <p:cNvSpPr/>
          <p:nvPr/>
        </p:nvSpPr>
        <p:spPr>
          <a:xfrm>
            <a:off x="6976872" y="2633472"/>
            <a:ext cx="0" cy="1152144"/>
          </a:xfrm>
          <a:prstGeom prst="line">
            <a:avLst/>
          </a:prstGeom>
          <a:noFill/>
          <a:ln w="12700">
            <a:solidFill>
              <a:srgbClr val="5B6560"/>
            </a:solidFill>
            <a:prstDash val="solid"/>
          </a:ln>
        </p:spPr>
      </p:sp>
      <p:sp>
        <p:nvSpPr>
          <p:cNvPr id="48" name="Shape 42"/>
          <p:cNvSpPr/>
          <p:nvPr/>
        </p:nvSpPr>
        <p:spPr>
          <a:xfrm>
            <a:off x="6976872" y="2633472"/>
            <a:ext cx="73152" cy="0"/>
          </a:xfrm>
          <a:prstGeom prst="line">
            <a:avLst/>
          </a:prstGeom>
          <a:noFill/>
          <a:ln w="12700">
            <a:solidFill>
              <a:srgbClr val="5B6560"/>
            </a:solidFill>
            <a:prstDash val="solid"/>
            <a:tailEnd type="triangle"/>
          </a:ln>
        </p:spPr>
      </p:sp>
      <p:sp>
        <p:nvSpPr>
          <p:cNvPr id="49" name="Shape 43"/>
          <p:cNvSpPr/>
          <p:nvPr/>
        </p:nvSpPr>
        <p:spPr>
          <a:xfrm>
            <a:off x="9683496" y="1828800"/>
            <a:ext cx="1947672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3D9D6"/>
            </a:solidFill>
            <a:prstDash val="solid"/>
          </a:ln>
        </p:spPr>
      </p:sp>
      <p:sp>
        <p:nvSpPr>
          <p:cNvPr id="50" name="Text 44"/>
          <p:cNvSpPr txBox="1"/>
          <p:nvPr/>
        </p:nvSpPr>
        <p:spPr>
          <a:xfrm>
            <a:off x="9738360" y="1828800"/>
            <a:ext cx="1837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Speech service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B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opt-in, confirmed</a:t>
            </a:r>
            <a:endParaRPr lang="en-US" sz="950" dirty="0"/>
          </a:p>
        </p:txBody>
      </p:sp>
      <p:sp>
        <p:nvSpPr>
          <p:cNvPr id="51" name="Shape 45"/>
          <p:cNvSpPr/>
          <p:nvPr/>
        </p:nvSpPr>
        <p:spPr>
          <a:xfrm>
            <a:off x="9683496" y="2404872"/>
            <a:ext cx="1947672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3D9D6"/>
            </a:solidFill>
            <a:prstDash val="solid"/>
          </a:ln>
        </p:spPr>
      </p:sp>
      <p:sp>
        <p:nvSpPr>
          <p:cNvPr id="52" name="Text 46"/>
          <p:cNvSpPr txBox="1"/>
          <p:nvPr/>
        </p:nvSpPr>
        <p:spPr>
          <a:xfrm>
            <a:off x="9738360" y="2404872"/>
            <a:ext cx="1837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/api/screen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B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stateless, reviewers</a:t>
            </a:r>
            <a:endParaRPr lang="en-US" sz="950" dirty="0"/>
          </a:p>
        </p:txBody>
      </p:sp>
      <p:sp>
        <p:nvSpPr>
          <p:cNvPr id="53" name="Shape 47"/>
          <p:cNvSpPr/>
          <p:nvPr/>
        </p:nvSpPr>
        <p:spPr>
          <a:xfrm>
            <a:off x="9683496" y="2980944"/>
            <a:ext cx="1947672" cy="457200"/>
          </a:xfrm>
          <a:prstGeom prst="roundRect">
            <a:avLst>
              <a:gd name="adj" fmla="val 10000"/>
            </a:avLst>
          </a:prstGeom>
          <a:solidFill>
            <a:srgbClr val="E4A11B"/>
          </a:solidFill>
          <a:ln w="9525">
            <a:solidFill>
              <a:srgbClr val="E4A11B"/>
            </a:solidFill>
            <a:prstDash val="solid"/>
          </a:ln>
        </p:spPr>
      </p:sp>
      <p:sp>
        <p:nvSpPr>
          <p:cNvPr id="54" name="Text 48"/>
          <p:cNvSpPr txBox="1"/>
          <p:nvPr/>
        </p:nvSpPr>
        <p:spPr>
          <a:xfrm>
            <a:off x="9738360" y="2980944"/>
            <a:ext cx="1837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API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if key is set</a:t>
            </a:r>
            <a:endParaRPr lang="en-US" sz="950" dirty="0"/>
          </a:p>
        </p:txBody>
      </p:sp>
      <p:sp>
        <p:nvSpPr>
          <p:cNvPr id="55" name="Shape 49"/>
          <p:cNvSpPr/>
          <p:nvPr/>
        </p:nvSpPr>
        <p:spPr>
          <a:xfrm>
            <a:off x="9683496" y="3557016"/>
            <a:ext cx="1947672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3D9D6"/>
            </a:solidFill>
            <a:prstDash val="solid"/>
          </a:ln>
        </p:spPr>
      </p:sp>
      <p:sp>
        <p:nvSpPr>
          <p:cNvPr id="56" name="Text 50"/>
          <p:cNvSpPr txBox="1"/>
          <p:nvPr/>
        </p:nvSpPr>
        <p:spPr>
          <a:xfrm>
            <a:off x="9738360" y="3557016"/>
            <a:ext cx="1837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/api/assist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B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scheme + question only</a:t>
            </a:r>
            <a:endParaRPr lang="en-US" sz="950" dirty="0"/>
          </a:p>
        </p:txBody>
      </p:sp>
      <p:sp>
        <p:nvSpPr>
          <p:cNvPr id="57" name="Shape 51"/>
          <p:cNvSpPr/>
          <p:nvPr/>
        </p:nvSpPr>
        <p:spPr>
          <a:xfrm>
            <a:off x="9253728" y="2057400"/>
            <a:ext cx="429768" cy="0"/>
          </a:xfrm>
          <a:prstGeom prst="line">
            <a:avLst/>
          </a:prstGeom>
          <a:noFill/>
          <a:ln w="12700">
            <a:solidFill>
              <a:srgbClr val="5B6560"/>
            </a:solidFill>
            <a:prstDash val="solid"/>
            <a:tailEnd type="triangle"/>
          </a:ln>
        </p:spPr>
      </p:sp>
      <p:sp>
        <p:nvSpPr>
          <p:cNvPr id="58" name="Shape 52"/>
          <p:cNvSpPr/>
          <p:nvPr/>
        </p:nvSpPr>
        <p:spPr>
          <a:xfrm>
            <a:off x="9253728" y="3785616"/>
            <a:ext cx="429768" cy="0"/>
          </a:xfrm>
          <a:prstGeom prst="line">
            <a:avLst/>
          </a:prstGeom>
          <a:noFill/>
          <a:ln w="12700">
            <a:solidFill>
              <a:srgbClr val="5B6560"/>
            </a:solidFill>
            <a:prstDash val="solid"/>
            <a:tailEnd type="triangle"/>
          </a:ln>
        </p:spPr>
      </p:sp>
      <p:sp>
        <p:nvSpPr>
          <p:cNvPr id="59" name="Shape 53"/>
          <p:cNvSpPr/>
          <p:nvPr/>
        </p:nvSpPr>
        <p:spPr>
          <a:xfrm flipV="1">
            <a:off x="10657332" y="3438144"/>
            <a:ext cx="0" cy="118872"/>
          </a:xfrm>
          <a:prstGeom prst="line">
            <a:avLst/>
          </a:prstGeom>
          <a:noFill/>
          <a:ln w="12700">
            <a:solidFill>
              <a:srgbClr val="5B6560"/>
            </a:solidFill>
            <a:prstDash val="solid"/>
            <a:tailEnd type="triangle"/>
          </a:ln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434840"/>
          <a:ext cx="11094415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4206240"/>
                <a:gridCol w="2148840"/>
                <a:gridCol w="1719072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2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Stored where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2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Kept?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2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Offline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24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Rules, documents, offices, strings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dataset.json bundled in the page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Build artefact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6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Household answers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 memory only; never the URL or browser storage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No: Clear, close or idle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6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Recorded audio, fonts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Static files, self-hosted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6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/api/screen · /api/assist · /api/health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Stateless server, no-store, no logging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9A6A0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Assist hides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Voice input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Browser speech service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by us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9A6A0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Hides itself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6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APPROACH  ·  DATA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071055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Welfare Navigator · PS-07 · Team SleepDeprived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rule carries its source sentence.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387188" cy="1783080"/>
          </a:xfrm>
          <a:prstGeom prst="roundRect">
            <a:avLst>
              <a:gd name="adj" fmla="val 4103"/>
            </a:avLst>
          </a:prstGeom>
          <a:solidFill>
            <a:srgbClr val="E8F1EC"/>
          </a:solidFill>
          <a:ln w="12700">
            <a:solidFill>
              <a:srgbClr val="E8F1E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572768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166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31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sources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06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6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tier 1 · 31 tier 2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1627632"/>
            <a:ext cx="33755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B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 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B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KFWFB welfare schemes guideline 2025 · Fisheries Department scheme pages and district officers · Small Plantation Workers' Welfare Fund Act 2008, board pages and forms · G.O.(P) 81/2024/LBR · Matsyafed and Akshaya directories.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5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has authority, URL or stored copy, and access date.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55868" y="1463040"/>
            <a:ext cx="5387188" cy="1783080"/>
          </a:xfrm>
          <a:prstGeom prst="roundRect">
            <a:avLst>
              <a:gd name="adj" fmla="val 4103"/>
            </a:avLst>
          </a:prstGeom>
          <a:solidFill>
            <a:srgbClr val="F1F3F2"/>
          </a:solidFill>
          <a:ln w="12700">
            <a:solidFill>
              <a:srgbClr val="F1F3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30188" y="1627632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30772" y="1728216"/>
            <a:ext cx="256032" cy="256032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7170268" y="1609344"/>
            <a:ext cx="424418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B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66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conditions  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B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 · operator · value · OR-group · changeable · how-to · source · exact quote · page · reviewer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66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facts  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B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· EN/ML question · unit · sensitivity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66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schemes  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B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· authority · summary · 3 verification levels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66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also  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B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 · offices · terms · disclaimer · 32 test profiles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3474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6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TRANSFORMATIONS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40664" y="3986784"/>
            <a:ext cx="9245346" cy="0"/>
          </a:xfrm>
          <a:prstGeom prst="line">
            <a:avLst/>
          </a:prstGeom>
          <a:noFill/>
          <a:ln w="19050">
            <a:solidFill>
              <a:srgbClr val="D3D9D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48640" y="3794760"/>
            <a:ext cx="384048" cy="384048"/>
          </a:xfrm>
          <a:prstGeom prst="ellipse">
            <a:avLst/>
          </a:prstGeom>
          <a:solidFill>
            <a:srgbClr val="16624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3794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4279392"/>
            <a:ext cx="16661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Quote copied from the source with its page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2397709" y="3794760"/>
            <a:ext cx="384048" cy="384048"/>
          </a:xfrm>
          <a:prstGeom prst="ellipse">
            <a:avLst/>
          </a:prstGeom>
          <a:solidFill>
            <a:srgbClr val="16624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2397709" y="3794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2397709" y="4279392"/>
            <a:ext cx="16661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Workbook validated; build fails on errors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246778" y="3794760"/>
            <a:ext cx="384048" cy="384048"/>
          </a:xfrm>
          <a:prstGeom prst="ellipse">
            <a:avLst/>
          </a:prstGeom>
          <a:solidFill>
            <a:srgbClr val="16624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246778" y="3794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4246778" y="4279392"/>
            <a:ext cx="16661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OR-groups become all / any / not trees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6095848" y="3794760"/>
            <a:ext cx="384048" cy="384048"/>
          </a:xfrm>
          <a:prstGeom prst="ellipse">
            <a:avLst/>
          </a:prstGeom>
          <a:solidFill>
            <a:srgbClr val="16624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095848" y="3794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6095848" y="4279392"/>
            <a:ext cx="16661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Numbers become bands at rule thresholds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7944917" y="3794760"/>
            <a:ext cx="384048" cy="384048"/>
          </a:xfrm>
          <a:prstGeom prst="ellipse">
            <a:avLst/>
          </a:prstGeom>
          <a:solidFill>
            <a:srgbClr val="16624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944917" y="3794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7944917" y="4279392"/>
            <a:ext cx="16661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Districts and offices normalised to 14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9793986" y="3794760"/>
            <a:ext cx="384048" cy="384048"/>
          </a:xfrm>
          <a:prstGeom prst="ellipse">
            <a:avLst/>
          </a:prstGeom>
          <a:solidFill>
            <a:srgbClr val="16624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793986" y="3794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9793986" y="4279392"/>
            <a:ext cx="16661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audit checks thresholds and wording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548640" y="4983480"/>
            <a:ext cx="384048" cy="384048"/>
          </a:xfrm>
          <a:prstGeom prst="ellipse">
            <a:avLst/>
          </a:prstGeom>
          <a:solidFill>
            <a:srgbClr val="FBF1DC"/>
          </a:solidFill>
          <a:ln w="12700">
            <a:solidFill>
              <a:srgbClr val="FBF1DC"/>
            </a:solidFill>
            <a:prstDash val="solid"/>
          </a:ln>
        </p:spPr>
      </p:sp>
      <p:pic>
        <p:nvPicPr>
          <p:cNvPr id="3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131" y="5067971"/>
            <a:ext cx="215067" cy="215067"/>
          </a:xfrm>
          <a:prstGeom prst="rect">
            <a:avLst/>
          </a:prstGeom>
        </p:spPr>
      </p:pic>
      <p:sp>
        <p:nvSpPr>
          <p:cNvPr id="36" name="Text 32"/>
          <p:cNvSpPr txBox="1"/>
          <p:nvPr/>
        </p:nvSpPr>
        <p:spPr>
          <a:xfrm>
            <a:off x="1051560" y="50383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1350" dirty="0"/>
          </a:p>
        </p:txBody>
      </p:sp>
      <p:sp>
        <p:nvSpPr>
          <p:cNvPr id="37" name="Text 33"/>
          <p:cNvSpPr txBox="1"/>
          <p:nvPr/>
        </p:nvSpPr>
        <p:spPr>
          <a:xfrm>
            <a:off x="548640" y="5440680"/>
            <a:ext cx="53871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B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106 conditions quoted; second review still pending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B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Legacy-font Malayalam PDFs read and typed by hand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B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FISH-07 has no published route; 6 schemes lack a document list (shown on screen)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B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verified office coordinates, so no distances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B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snapshot as of each access date; not an official service</a:t>
            </a:r>
            <a:endParaRPr lang="en-US" sz="1050" dirty="0"/>
          </a:p>
        </p:txBody>
      </p:sp>
      <p:sp>
        <p:nvSpPr>
          <p:cNvPr id="38" name="Shape 34"/>
          <p:cNvSpPr/>
          <p:nvPr/>
        </p:nvSpPr>
        <p:spPr>
          <a:xfrm>
            <a:off x="6255868" y="4983480"/>
            <a:ext cx="384048" cy="384048"/>
          </a:xfrm>
          <a:prstGeom prst="ellipse">
            <a:avLst/>
          </a:prstGeom>
          <a:solidFill>
            <a:srgbClr val="E8F1EC"/>
          </a:solidFill>
          <a:ln w="12700">
            <a:solidFill>
              <a:srgbClr val="E8F1EC"/>
            </a:solidFill>
            <a:prstDash val="solid"/>
          </a:ln>
        </p:spPr>
      </p:sp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0358" y="5067971"/>
            <a:ext cx="215067" cy="215067"/>
          </a:xfrm>
          <a:prstGeom prst="rect">
            <a:avLst/>
          </a:prstGeom>
        </p:spPr>
      </p:pic>
      <p:sp>
        <p:nvSpPr>
          <p:cNvPr id="40" name="Text 35"/>
          <p:cNvSpPr txBox="1"/>
          <p:nvPr/>
        </p:nvSpPr>
        <p:spPr>
          <a:xfrm>
            <a:off x="6758788" y="50383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controls</a:t>
            </a:r>
            <a:endParaRPr lang="en-US" sz="1350" dirty="0"/>
          </a:p>
        </p:txBody>
      </p:sp>
      <p:sp>
        <p:nvSpPr>
          <p:cNvPr id="41" name="Text 36"/>
          <p:cNvSpPr txBox="1"/>
          <p:nvPr/>
        </p:nvSpPr>
        <p:spPr>
          <a:xfrm>
            <a:off x="6255868" y="5440680"/>
            <a:ext cx="53871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B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name, phone, Aadhaar, address or free-text field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B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Income, age, years asked as bands; Prefer not to say offered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B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in tab memory only; Clear, close or idle erases them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B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Printed checklist carries documents and offices, never answers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B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APIs no-store, no logs; AI helper rejects answers; voice disclosed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6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DEMO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071055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Welfare Navigator · PS-07 · Team SleepDeprived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answers. 6 schemes worth asking about.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22376" y="1655064"/>
            <a:ext cx="0" cy="2468880"/>
          </a:xfrm>
          <a:prstGeom prst="line">
            <a:avLst/>
          </a:prstGeom>
          <a:noFill/>
          <a:ln w="19050">
            <a:solidFill>
              <a:srgbClr val="D3D9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481328"/>
            <a:ext cx="347472" cy="347472"/>
          </a:xfrm>
          <a:prstGeom prst="ellipse">
            <a:avLst/>
          </a:prstGeom>
          <a:solidFill>
            <a:srgbClr val="16624A"/>
          </a:solidFill>
          <a:ln w="25400">
            <a:solidFill>
              <a:srgbClr val="F5F7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481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1453896"/>
            <a:ext cx="5349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and mode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5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Malayalam or English; Easy Mode reads everything aloud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1975104"/>
            <a:ext cx="347472" cy="347472"/>
          </a:xfrm>
          <a:prstGeom prst="ellipse">
            <a:avLst/>
          </a:prstGeom>
          <a:solidFill>
            <a:srgbClr val="16624A"/>
          </a:solidFill>
          <a:ln w="25400">
            <a:solidFill>
              <a:srgbClr val="F5F7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19751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1947672"/>
            <a:ext cx="5349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Livelihood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5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Fishing, plantation, allied work, or more than one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468880"/>
            <a:ext cx="347472" cy="347472"/>
          </a:xfrm>
          <a:prstGeom prst="ellipse">
            <a:avLst/>
          </a:prstGeom>
          <a:solidFill>
            <a:srgbClr val="16624A"/>
          </a:solidFill>
          <a:ln w="25400">
            <a:solidFill>
              <a:srgbClr val="F5F7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2468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441448"/>
            <a:ext cx="5349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12 questions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5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ones that can still change a result; I don't know is always there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2962656"/>
            <a:ext cx="347472" cy="347472"/>
          </a:xfrm>
          <a:prstGeom prst="ellipse">
            <a:avLst/>
          </a:prstGeom>
          <a:solidFill>
            <a:srgbClr val="16624A"/>
          </a:solidFill>
          <a:ln w="25400">
            <a:solidFill>
              <a:srgbClr val="F5F7F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29626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2935224"/>
            <a:ext cx="5349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5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potentially eligible, 1 one step away, under the approved disclaimer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3456432"/>
            <a:ext cx="347472" cy="347472"/>
          </a:xfrm>
          <a:prstGeom prst="ellipse">
            <a:avLst/>
          </a:prstGeom>
          <a:solidFill>
            <a:srgbClr val="16624A"/>
          </a:solidFill>
          <a:ln w="25400">
            <a:solidFill>
              <a:srgbClr val="F5F7F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3456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3429000"/>
            <a:ext cx="5349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5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condition shows your answer, the rule, the official quote and page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3950208"/>
            <a:ext cx="347472" cy="347472"/>
          </a:xfrm>
          <a:prstGeom prst="ellipse">
            <a:avLst/>
          </a:prstGeom>
          <a:solidFill>
            <a:srgbClr val="16624A"/>
          </a:solidFill>
          <a:ln w="25400">
            <a:solidFill>
              <a:srgbClr val="F5F7F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39502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3922776"/>
            <a:ext cx="5349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and office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5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documents merged across 6 schemes, the right office, Clear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526280"/>
            <a:ext cx="585216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3D9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4709160"/>
            <a:ext cx="420624" cy="420624"/>
          </a:xfrm>
          <a:prstGeom prst="ellipse">
            <a:avLst/>
          </a:prstGeom>
          <a:solidFill>
            <a:srgbClr val="FBF1DC"/>
          </a:solidFill>
          <a:ln w="12700">
            <a:solidFill>
              <a:srgbClr val="FBF1DC"/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057" y="4801697"/>
            <a:ext cx="235549" cy="235549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1325880" y="4672584"/>
            <a:ext cx="48920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case: contributions in arrears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1B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Answering No to “contributions fully paid” makes Marriage Assistance Not matched, but it stays visible as one step away: clear the arrears at the Fisheries Office. The engine re-runs with that one fixable condition flipped. Nothing is promised.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548640" y="5715000"/>
            <a:ext cx="58521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3D9D6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31520" y="5897880"/>
            <a:ext cx="420624" cy="420624"/>
          </a:xfrm>
          <a:prstGeom prst="ellipse">
            <a:avLst/>
          </a:prstGeom>
          <a:solidFill>
            <a:srgbClr val="E8F1EC"/>
          </a:solidFill>
          <a:ln w="12700">
            <a:solidFill>
              <a:srgbClr val="E8F1EC"/>
            </a:solidFill>
            <a:prstDash val="solid"/>
          </a:ln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057" y="5990417"/>
            <a:ext cx="235549" cy="235549"/>
          </a:xfrm>
          <a:prstGeom prst="rect">
            <a:avLst/>
          </a:prstGeom>
        </p:spPr>
      </p:pic>
      <p:sp>
        <p:nvSpPr>
          <p:cNvPr id="31" name="Text 27"/>
          <p:cNvSpPr txBox="1"/>
          <p:nvPr/>
        </p:nvSpPr>
        <p:spPr>
          <a:xfrm>
            <a:off x="1325880" y="5861304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case: no internet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1B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and the AI rewrite hide themselves; screening, audio, quotes and results keep working.</a:t>
            </a:r>
            <a:endParaRPr lang="en-US" sz="1250" dirty="0"/>
          </a:p>
        </p:txBody>
      </p:sp>
      <p:sp>
        <p:nvSpPr>
          <p:cNvPr id="32" name="Shape 28"/>
          <p:cNvSpPr/>
          <p:nvPr/>
        </p:nvSpPr>
        <p:spPr>
          <a:xfrm>
            <a:off x="6564093" y="1417320"/>
            <a:ext cx="2379461" cy="4965192"/>
          </a:xfrm>
          <a:prstGeom prst="roundRect">
            <a:avLst>
              <a:gd name="adj" fmla="val 6917"/>
            </a:avLst>
          </a:prstGeom>
          <a:solidFill>
            <a:srgbClr val="1B1F1D"/>
          </a:solidFill>
          <a:ln w="12700">
            <a:solidFill>
              <a:srgbClr val="1B1F1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6389" y="1499616"/>
            <a:ext cx="2214869" cy="4800600"/>
          </a:xfrm>
          <a:prstGeom prst="rect">
            <a:avLst/>
          </a:prstGeom>
        </p:spPr>
      </p:pic>
      <p:sp>
        <p:nvSpPr>
          <p:cNvPr id="34" name="Text 29"/>
          <p:cNvSpPr txBox="1"/>
          <p:nvPr/>
        </p:nvSpPr>
        <p:spPr>
          <a:xfrm>
            <a:off x="6564093" y="6455664"/>
            <a:ext cx="23794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1050" dirty="0"/>
          </a:p>
        </p:txBody>
      </p:sp>
      <p:sp>
        <p:nvSpPr>
          <p:cNvPr id="35" name="Shape 30"/>
          <p:cNvSpPr/>
          <p:nvPr/>
        </p:nvSpPr>
        <p:spPr>
          <a:xfrm>
            <a:off x="9263594" y="1417320"/>
            <a:ext cx="2379461" cy="4965192"/>
          </a:xfrm>
          <a:prstGeom prst="roundRect">
            <a:avLst>
              <a:gd name="adj" fmla="val 6917"/>
            </a:avLst>
          </a:prstGeom>
          <a:solidFill>
            <a:srgbClr val="1B1F1D"/>
          </a:solidFill>
          <a:ln w="12700">
            <a:solidFill>
              <a:srgbClr val="1B1F1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5890" y="1499616"/>
            <a:ext cx="2214869" cy="4800600"/>
          </a:xfrm>
          <a:prstGeom prst="rect">
            <a:avLst/>
          </a:prstGeom>
        </p:spPr>
      </p:pic>
      <p:sp>
        <p:nvSpPr>
          <p:cNvPr id="37" name="Text 31"/>
          <p:cNvSpPr txBox="1"/>
          <p:nvPr/>
        </p:nvSpPr>
        <p:spPr>
          <a:xfrm>
            <a:off x="9263594" y="6455664"/>
            <a:ext cx="23794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case: one step away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4A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 IMPACT   ·   6  LIMITATIONS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071055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D5E3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Welfare Navigator · PS-07 · Team SleepDeprived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wasted trips, and a reason for every result.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387188" cy="2423160"/>
          </a:xfrm>
          <a:prstGeom prst="roundRect">
            <a:avLst>
              <a:gd name="adj" fmla="val 3019"/>
            </a:avLst>
          </a:prstGeom>
          <a:solidFill>
            <a:srgbClr val="174A3B"/>
          </a:solidFill>
          <a:ln w="12700">
            <a:solidFill>
              <a:srgbClr val="174A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664208"/>
            <a:ext cx="402336" cy="402336"/>
          </a:xfrm>
          <a:prstGeom prst="ellipse">
            <a:avLst/>
          </a:prstGeom>
          <a:solidFill>
            <a:srgbClr val="0E3B2E"/>
          </a:solidFill>
          <a:ln w="12700">
            <a:solidFill>
              <a:srgbClr val="0E3B2E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5754" y="1752722"/>
            <a:ext cx="225308" cy="22530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25880" y="1719072"/>
            <a:ext cx="43813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194560"/>
            <a:ext cx="48842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D5E3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of 32 schemes to ask about, in one sitting instead of several office visits</a:t>
            </a:r>
            <a:endParaRPr lang="en-US" sz="12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D5E3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step away turns a silent rejection into an action</a:t>
            </a:r>
            <a:endParaRPr lang="en-US" sz="12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D5E3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answer-free checklist and the right office cut failed trips</a:t>
            </a:r>
            <a:endParaRPr lang="en-US" sz="12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D5E3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Akshaya operator screens family after family</a:t>
            </a:r>
            <a:endParaRPr lang="en-US" sz="12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D5E3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threshold change is a workbook edit, checked by tests and the audit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55868" y="1463040"/>
            <a:ext cx="5387188" cy="2423160"/>
          </a:xfrm>
          <a:prstGeom prst="roundRect">
            <a:avLst>
              <a:gd name="adj" fmla="val 3019"/>
            </a:avLst>
          </a:prstGeom>
          <a:solidFill>
            <a:srgbClr val="174A3B"/>
          </a:solidFill>
          <a:ln w="12700">
            <a:solidFill>
              <a:srgbClr val="174A3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84468" y="1664208"/>
            <a:ext cx="402336" cy="402336"/>
          </a:xfrm>
          <a:prstGeom prst="ellipse">
            <a:avLst/>
          </a:prstGeom>
          <a:solidFill>
            <a:srgbClr val="0E3B2E"/>
          </a:solidFill>
          <a:ln w="12700">
            <a:solidFill>
              <a:srgbClr val="0E3B2E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982" y="1752722"/>
            <a:ext cx="225308" cy="22530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033108" y="1719072"/>
            <a:ext cx="43813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6530188" y="2194560"/>
            <a:ext cx="48842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D5E3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screening, not a decision; the office verifies documents</a:t>
            </a:r>
            <a:endParaRPr lang="en-US" sz="12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D5E3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Conditions await second review; Malayalam UI awaits native review</a:t>
            </a:r>
            <a:endParaRPr lang="en-US" sz="12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D5E3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needs Chrome and internet; weak on spoken numbers</a:t>
            </a:r>
            <a:endParaRPr lang="en-US" sz="12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D5E3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yet tested with families; impact is what the design enables, not a measured result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4069080"/>
            <a:ext cx="5387188" cy="2468880"/>
          </a:xfrm>
          <a:prstGeom prst="roundRect">
            <a:avLst>
              <a:gd name="adj" fmla="val 2963"/>
            </a:avLst>
          </a:prstGeom>
          <a:solidFill>
            <a:srgbClr val="174A3B"/>
          </a:solidFill>
          <a:ln w="12700">
            <a:solidFill>
              <a:srgbClr val="174A3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77240" y="4270248"/>
            <a:ext cx="402336" cy="402336"/>
          </a:xfrm>
          <a:prstGeom prst="ellipse">
            <a:avLst/>
          </a:prstGeom>
          <a:solidFill>
            <a:srgbClr val="0E3B2E"/>
          </a:solidFill>
          <a:ln w="12700">
            <a:solidFill>
              <a:srgbClr val="0E3B2E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754" y="4358762"/>
            <a:ext cx="225308" cy="22530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325880" y="4325112"/>
            <a:ext cx="43813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use declaration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822960" y="4800600"/>
            <a:ext cx="488426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E4A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Opus 5.5 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D5E3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coding, review, tests, docs; optional runtime model for the plain-language helper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E4A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GPT-6 Sol 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D5E3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coding, Malayalam and English text drafts, source cross-checks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E4A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ElevenLabs v3 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D5E3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recorded question clips   </a:t>
            </a:r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E4A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speech 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D5E3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voice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AI decides eligibility, writes rules, or sees a family's answers.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255868" y="4069080"/>
            <a:ext cx="5387188" cy="2468880"/>
          </a:xfrm>
          <a:prstGeom prst="roundRect">
            <a:avLst>
              <a:gd name="adj" fmla="val 2963"/>
            </a:avLst>
          </a:prstGeom>
          <a:solidFill>
            <a:srgbClr val="174A3B"/>
          </a:solidFill>
          <a:ln w="12700">
            <a:solidFill>
              <a:srgbClr val="174A3B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484468" y="4270248"/>
            <a:ext cx="402336" cy="402336"/>
          </a:xfrm>
          <a:prstGeom prst="ellipse">
            <a:avLst/>
          </a:prstGeom>
          <a:solidFill>
            <a:srgbClr val="0E3B2E"/>
          </a:solidFill>
          <a:ln w="12700">
            <a:solidFill>
              <a:srgbClr val="0E3B2E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2982" y="4358762"/>
            <a:ext cx="225308" cy="225308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033108" y="4325112"/>
            <a:ext cx="43813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and our response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6530188" y="4800600"/>
            <a:ext cx="488426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E4A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1  </a:t>
            </a:r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“Add an AI component.”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D5E3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plain-language helper grounded in official quotes: every sentence cited, any number not in the source rejected, no answers sent. Plus an automated rule audit in CI. Commit ba4e8d9.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E4A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Pre-coding review 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D5E3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trees, unknown ≠ rejection, income bands, multi-select livelihood, offline build, reviewer runner. Log in FEEDBACK.md.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Welfare Navigator · PS-07</dc:title>
  <dc:subject>PptxGenJS Presentation</dc:subject>
  <dc:creator>Team SleepDeprived</dc:creator>
  <cp:lastModifiedBy>Team SleepDeprived</cp:lastModifiedBy>
  <cp:revision>1</cp:revision>
  <dcterms:created xsi:type="dcterms:W3CDTF">2026-09-24T06:54:58Z</dcterms:created>
  <dcterms:modified xsi:type="dcterms:W3CDTF">2026-09-24T06:54:58Z</dcterms:modified>
</cp:coreProperties>
</file>